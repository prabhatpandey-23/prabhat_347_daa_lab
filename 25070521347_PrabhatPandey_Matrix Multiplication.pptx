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6" d="100"/>
          <a:sy n="46" d="100"/>
        </p:scale>
        <p:origin x="43" y="6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498079" y="640080"/>
            <a:ext cx="16459" cy="539496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936992" y="640080"/>
            <a:ext cx="16459" cy="539496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375904" y="640080"/>
            <a:ext cx="16459" cy="539496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814815" y="640080"/>
            <a:ext cx="16459" cy="539496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253728" y="640080"/>
            <a:ext cx="16459" cy="539496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692640" y="640080"/>
            <a:ext cx="16459" cy="539496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131551" y="640080"/>
            <a:ext cx="16459" cy="539496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570463" y="640080"/>
            <a:ext cx="16459" cy="539496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1009376" y="640080"/>
            <a:ext cx="16459" cy="5394960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132320" y="822960"/>
            <a:ext cx="4297680" cy="16459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132320" y="1298448"/>
            <a:ext cx="4297680" cy="16459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132320" y="1773936"/>
            <a:ext cx="4297680" cy="16459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132320" y="2249424"/>
            <a:ext cx="4297680" cy="16459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132320" y="2724912"/>
            <a:ext cx="4297680" cy="16459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132320" y="3200400"/>
            <a:ext cx="4297680" cy="16459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132320" y="3675888"/>
            <a:ext cx="4297680" cy="16459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0" y="4151376"/>
            <a:ext cx="4297680" cy="16459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132320" y="4626864"/>
            <a:ext cx="4297680" cy="16459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132320" y="5102352"/>
            <a:ext cx="4297680" cy="16459"/>
          </a:xfrm>
          <a:prstGeom prst="rect">
            <a:avLst/>
          </a:prstGeom>
          <a:solidFill>
            <a:srgbClr val="1C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8" y="731520"/>
            <a:ext cx="411480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300" b="1">
                <a:solidFill>
                  <a:srgbClr val="2CDBE6"/>
                </a:solidFill>
                <a:latin typeface="Aptos"/>
              </a:defRPr>
            </a:pPr>
            <a:r>
              <a:t>MATH × COMPUTING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1417320"/>
            <a:ext cx="6400800" cy="19202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3800" b="1">
                <a:solidFill>
                  <a:srgbClr val="F5F8FF"/>
                </a:solidFill>
                <a:latin typeface="Aptos"/>
              </a:defRPr>
            </a:pPr>
            <a:r>
              <a:t>MATRIX</a:t>
            </a:r>
            <a:br/>
            <a:r>
              <a:t>MULTIPLICATION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3657600"/>
            <a:ext cx="594360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900" b="0">
                <a:solidFill>
                  <a:srgbClr val="B4C1DA"/>
                </a:solidFill>
                <a:latin typeface="Aptos"/>
              </a:defRPr>
            </a:pPr>
            <a:r>
              <a:t>A clear, visual guide with a worked example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52360" y="1645920"/>
            <a:ext cx="4026408" cy="2560320"/>
          </a:xfrm>
          <a:prstGeom prst="roundRect">
            <a:avLst/>
          </a:prstGeom>
          <a:solidFill>
            <a:srgbClr val="162241"/>
          </a:solidFill>
          <a:ln>
            <a:solidFill>
              <a:srgbClr val="162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772400" y="2057400"/>
            <a:ext cx="658368" cy="585215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200" b="1">
                <a:solidFill>
                  <a:srgbClr val="F5F8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85632" y="2057400"/>
            <a:ext cx="658368" cy="585215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200" b="1">
                <a:solidFill>
                  <a:srgbClr val="F5F8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98864" y="2057400"/>
            <a:ext cx="658368" cy="585215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200" b="1">
                <a:solidFill>
                  <a:srgbClr val="F5F8FF"/>
                </a:solidFill>
                <a:latin typeface="Aptos Display"/>
              </a:defRPr>
            </a:pPr>
            <a:r>
              <a:rPr dirty="0"/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2697480"/>
            <a:ext cx="658368" cy="585215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200" b="1">
                <a:solidFill>
                  <a:srgbClr val="F5F8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85632" y="2697480"/>
            <a:ext cx="658368" cy="585215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200" b="1">
                <a:solidFill>
                  <a:srgbClr val="F5F8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98864" y="2697480"/>
            <a:ext cx="658368" cy="585215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200" b="1">
                <a:solidFill>
                  <a:srgbClr val="F5F8FF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12680" y="2514600"/>
            <a:ext cx="411480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3000" b="1">
                <a:solidFill>
                  <a:srgbClr val="2CDBE6"/>
                </a:solidFill>
                <a:latin typeface="Aptos"/>
              </a:defRPr>
            </a:pPr>
            <a:r>
              <a:t>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469880" y="1920240"/>
            <a:ext cx="329184" cy="512064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 Display"/>
              </a:defRPr>
            </a:pPr>
            <a:r>
              <a:rPr dirty="0"/>
              <a:t>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853928" y="1920240"/>
            <a:ext cx="329184" cy="512064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 Display"/>
              </a:defRPr>
            </a:pPr>
            <a:r>
              <a:rPr dirty="0"/>
              <a:t>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469880" y="2487168"/>
            <a:ext cx="329184" cy="512064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 Display"/>
              </a:defRPr>
            </a:pPr>
            <a:r>
              <a:t>9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853928" y="2487168"/>
            <a:ext cx="329184" cy="512064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69880" y="3054096"/>
            <a:ext cx="329184" cy="512064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 Display"/>
              </a:defRPr>
            </a:pPr>
            <a:r>
              <a:t>11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853928" y="3054096"/>
            <a:ext cx="329184" cy="512064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400" b="1">
                <a:solidFill>
                  <a:srgbClr val="F5F8FF"/>
                </a:solidFill>
                <a:latin typeface="Aptos Display"/>
              </a:defRPr>
            </a:pPr>
            <a: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1000" b="1">
                <a:solidFill>
                  <a:srgbClr val="B4C1DA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742432"/>
            <a:ext cx="6217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F8FF"/>
                </a:solidFill>
                <a:latin typeface="Aptos"/>
              </a:defRPr>
            </a:pPr>
            <a:r>
              <a:rPr dirty="0"/>
              <a:t>Presented by: Prabhat Pandey  |  PRN: 25070521347</a:t>
            </a:r>
          </a:p>
        </p:txBody>
      </p:sp>
      <p:sp>
        <p:nvSpPr>
          <p:cNvPr id="43" name="Rounded Rectangle 45">
            <a:extLst>
              <a:ext uri="{FF2B5EF4-FFF2-40B4-BE49-F238E27FC236}">
                <a16:creationId xmlns:a16="http://schemas.microsoft.com/office/drawing/2014/main" id="{E7909A50-6743-AC40-31B7-27B1BCC86E09}"/>
              </a:ext>
            </a:extLst>
          </p:cNvPr>
          <p:cNvSpPr/>
          <p:nvPr/>
        </p:nvSpPr>
        <p:spPr>
          <a:xfrm>
            <a:off x="610985" y="5110581"/>
            <a:ext cx="5852160" cy="868680"/>
          </a:xfrm>
          <a:prstGeom prst="roundRect">
            <a:avLst/>
          </a:prstGeom>
          <a:solidFill>
            <a:srgbClr val="0C182E"/>
          </a:solidFill>
          <a:ln>
            <a:solidFill>
              <a:srgbClr val="2A42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A2ED69-D007-090F-CB76-485F767CCD49}"/>
              </a:ext>
            </a:extLst>
          </p:cNvPr>
          <p:cNvSpPr txBox="1"/>
          <p:nvPr/>
        </p:nvSpPr>
        <p:spPr>
          <a:xfrm>
            <a:off x="1024128" y="5321808"/>
            <a:ext cx="1280160" cy="20116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defRPr sz="800" b="1">
                <a:solidFill>
                  <a:srgbClr val="3EE1D0"/>
                </a:solidFill>
                <a:latin typeface="Aptos"/>
              </a:defRPr>
            </a:pPr>
            <a:r>
              <a:rPr dirty="0"/>
              <a:t>PRESENTED BY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34EC9E-49E8-CCFE-51D2-B2520736C12E}"/>
              </a:ext>
            </a:extLst>
          </p:cNvPr>
          <p:cNvSpPr txBox="1"/>
          <p:nvPr/>
        </p:nvSpPr>
        <p:spPr>
          <a:xfrm>
            <a:off x="1024128" y="5522976"/>
            <a:ext cx="196596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defRPr sz="1500" b="1">
                <a:solidFill>
                  <a:srgbClr val="F5F8FD"/>
                </a:solidFill>
                <a:latin typeface="Aptos"/>
              </a:defRPr>
            </a:pPr>
            <a:r>
              <a:t>Prabhat Pandey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304B98C-C3C7-85F0-9A5E-3A6A7E487ACD}"/>
              </a:ext>
            </a:extLst>
          </p:cNvPr>
          <p:cNvSpPr txBox="1"/>
          <p:nvPr/>
        </p:nvSpPr>
        <p:spPr>
          <a:xfrm>
            <a:off x="3474720" y="5522976"/>
            <a:ext cx="2331720" cy="29260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defRPr sz="1300" b="1">
                <a:solidFill>
                  <a:srgbClr val="AABCD6"/>
                </a:solidFill>
                <a:latin typeface="Aptos"/>
              </a:defRPr>
            </a:pPr>
            <a:r>
              <a:rPr dirty="0"/>
              <a:t>PRN  25070521347</a:t>
            </a:r>
          </a:p>
        </p:txBody>
      </p:sp>
      <p:sp>
        <p:nvSpPr>
          <p:cNvPr id="51" name="Rounded Rectangle 26">
            <a:extLst>
              <a:ext uri="{FF2B5EF4-FFF2-40B4-BE49-F238E27FC236}">
                <a16:creationId xmlns:a16="http://schemas.microsoft.com/office/drawing/2014/main" id="{36123FEC-C1D4-C18E-36B2-77C646AA7670}"/>
              </a:ext>
            </a:extLst>
          </p:cNvPr>
          <p:cNvSpPr/>
          <p:nvPr/>
        </p:nvSpPr>
        <p:spPr>
          <a:xfrm>
            <a:off x="448056" y="4473702"/>
            <a:ext cx="5852160" cy="68580"/>
          </a:xfrm>
          <a:prstGeom prst="roundRect">
            <a:avLst/>
          </a:prstGeom>
          <a:solidFill>
            <a:srgbClr val="3EE1D0"/>
          </a:solidFill>
          <a:ln>
            <a:solidFill>
              <a:srgbClr val="3EE1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What is matrix multiplication?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0292"/>
          </a:xfrm>
          <a:prstGeom prst="rect">
            <a:avLst/>
          </a:prstGeom>
          <a:solidFill>
            <a:srgbClr val="2C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300" b="0">
                <a:solidFill>
                  <a:srgbClr val="B4C1DA"/>
                </a:solidFill>
                <a:latin typeface="Aptos"/>
              </a:defRPr>
            </a:pPr>
            <a:r>
              <a:t>A way to combine two matrices to produce a new matrix.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1000" b="1">
                <a:solidFill>
                  <a:srgbClr val="B4C1D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28232"/>
            <a:ext cx="5943600" cy="21945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900" b="1">
                <a:solidFill>
                  <a:srgbClr val="B4C1DA"/>
                </a:solidFill>
                <a:latin typeface="Aptos"/>
              </a:defRPr>
            </a:pPr>
            <a:r>
              <a:t>MATRIX MULTIPLICATION • B.TECH CSE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5212080" cy="3611880"/>
          </a:xfrm>
          <a:prstGeom prst="roundRect">
            <a:avLst/>
          </a:prstGeom>
          <a:solidFill>
            <a:srgbClr val="162241"/>
          </a:solidFill>
          <a:ln>
            <a:solidFill>
              <a:srgbClr val="162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84831"/>
            <a:ext cx="452628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200" b="1">
                <a:solidFill>
                  <a:srgbClr val="F5F8FF"/>
                </a:solidFill>
                <a:latin typeface="Aptos"/>
              </a:defRPr>
            </a:pPr>
            <a:r>
              <a:t>Think of a matrix as a grid of numbers.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852928"/>
            <a:ext cx="4526280" cy="10058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900" b="0">
                <a:solidFill>
                  <a:srgbClr val="B4C1DA"/>
                </a:solidFill>
                <a:latin typeface="Aptos"/>
              </a:defRPr>
            </a:pPr>
            <a:r>
              <a:t>Matrix multiplication uses rows from the first matrix and columns from the second matrix.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224528"/>
            <a:ext cx="4526280" cy="7315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800" b="1">
                <a:solidFill>
                  <a:srgbClr val="2CDBE6"/>
                </a:solidFill>
                <a:latin typeface="Aptos"/>
              </a:defRPr>
            </a:pPr>
            <a:r>
              <a:t>It is not the same as multiplying matching cells.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212080" cy="3611880"/>
          </a:xfrm>
          <a:prstGeom prst="roundRect">
            <a:avLst/>
          </a:prstGeom>
          <a:solidFill>
            <a:srgbClr val="162241"/>
          </a:solidFill>
          <a:ln>
            <a:solidFill>
              <a:srgbClr val="162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2084831"/>
            <a:ext cx="452628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200" b="1">
                <a:solidFill>
                  <a:srgbClr val="2CDBE6"/>
                </a:solidFill>
                <a:latin typeface="Aptos"/>
              </a:defRPr>
            </a:pPr>
            <a:r>
              <a:t>Where is it used?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743200"/>
            <a:ext cx="4526280" cy="210312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rPr dirty="0"/>
              <a:t>• Computer graphics and 3D transformations</a:t>
            </a:r>
          </a:p>
          <a:p>
            <a:pPr>
              <a:spcAft>
                <a:spcPts val="12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rPr dirty="0"/>
              <a:t>• Artificial intelligence and machine learning</a:t>
            </a:r>
          </a:p>
          <a:p>
            <a:pPr>
              <a:spcAft>
                <a:spcPts val="12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rPr dirty="0"/>
              <a:t>• Data analysis and scientific computing</a:t>
            </a:r>
          </a:p>
          <a:p>
            <a:pPr>
              <a:spcAft>
                <a:spcPts val="1200"/>
              </a:spcAft>
              <a:defRPr sz="1700" b="0">
                <a:solidFill>
                  <a:srgbClr val="F5F8FF"/>
                </a:solidFill>
                <a:latin typeface="Aptos"/>
              </a:defRPr>
            </a:pPr>
            <a:r>
              <a:rPr dirty="0"/>
              <a:t>• Image processing and simulations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First, check the dimensions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0292"/>
          </a:xfrm>
          <a:prstGeom prst="rect">
            <a:avLst/>
          </a:prstGeom>
          <a:solidFill>
            <a:srgbClr val="2C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300" b="0">
                <a:solidFill>
                  <a:srgbClr val="B4C1DA"/>
                </a:solidFill>
                <a:latin typeface="Aptos"/>
              </a:defRPr>
            </a:pPr>
            <a:r>
              <a:t>The inner dimensions must match.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1000" b="1">
                <a:solidFill>
                  <a:srgbClr val="B4C1D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28232"/>
            <a:ext cx="5943600" cy="21945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900" b="1">
                <a:solidFill>
                  <a:srgbClr val="B4C1DA"/>
                </a:solidFill>
                <a:latin typeface="Aptos"/>
              </a:defRPr>
            </a:pPr>
            <a:r>
              <a:t>MATRIX MULTIPLICATION • B.TECH CSE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10698480" cy="1234440"/>
          </a:xfrm>
          <a:prstGeom prst="roundRect">
            <a:avLst/>
          </a:prstGeom>
          <a:solidFill>
            <a:srgbClr val="162241"/>
          </a:solidFill>
          <a:ln>
            <a:solidFill>
              <a:srgbClr val="162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2084831"/>
            <a:ext cx="10058400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2700" b="1">
                <a:solidFill>
                  <a:srgbClr val="F5F8FF"/>
                </a:solidFill>
                <a:latin typeface="Aptos"/>
              </a:defRPr>
            </a:pPr>
            <a:r>
              <a:t>A (m × n)     ×     B (n × p)     =     C (m × 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1042416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2000" b="1">
                <a:solidFill>
                  <a:srgbClr val="2CDBE6"/>
                </a:solidFill>
                <a:latin typeface="Aptos"/>
              </a:defRPr>
            </a:pPr>
            <a:r>
              <a:t>The number of columns in A must equal the number of rows in 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251960"/>
            <a:ext cx="4343400" cy="1143000"/>
          </a:xfrm>
          <a:prstGeom prst="roundRect">
            <a:avLst/>
          </a:prstGeom>
          <a:solidFill>
            <a:srgbClr val="1A3448"/>
          </a:solidFill>
          <a:ln>
            <a:solidFill>
              <a:srgbClr val="1A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71600" y="4443984"/>
            <a:ext cx="384048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2500" b="1">
                <a:solidFill>
                  <a:srgbClr val="69E6AA"/>
                </a:solidFill>
                <a:latin typeface="Aptos"/>
              </a:defRPr>
            </a:pPr>
            <a:r>
              <a:t>2 ×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64608"/>
            <a:ext cx="38404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1400" b="0">
                <a:solidFill>
                  <a:srgbClr val="B4C1DA"/>
                </a:solidFill>
                <a:latin typeface="Aptos"/>
              </a:defRPr>
            </a:pPr>
            <a:r>
              <a:t>A has 3 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251960"/>
            <a:ext cx="4343400" cy="1143000"/>
          </a:xfrm>
          <a:prstGeom prst="roundRect">
            <a:avLst/>
          </a:prstGeom>
          <a:solidFill>
            <a:srgbClr val="1A3448"/>
          </a:solidFill>
          <a:ln>
            <a:solidFill>
              <a:srgbClr val="1A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29400" y="4443984"/>
            <a:ext cx="384048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2500" b="1">
                <a:solidFill>
                  <a:srgbClr val="69E6AA"/>
                </a:solidFill>
                <a:latin typeface="Aptos"/>
              </a:defRPr>
            </a:pPr>
            <a:r>
              <a:t>3 ×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4864608"/>
            <a:ext cx="3840480" cy="2743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1400" b="0">
                <a:solidFill>
                  <a:srgbClr val="B4C1DA"/>
                </a:solidFill>
                <a:latin typeface="Aptos"/>
              </a:defRPr>
            </a:pPr>
            <a:r>
              <a:t>B has 3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5623560"/>
            <a:ext cx="621792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2200" b="1">
                <a:solidFill>
                  <a:srgbClr val="9C6FFF"/>
                </a:solidFill>
                <a:latin typeface="Aptos"/>
              </a:defRPr>
            </a:pPr>
            <a:r>
              <a:t>Result: 2 × 2 matrix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The row-by-column rule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0292"/>
          </a:xfrm>
          <a:prstGeom prst="rect">
            <a:avLst/>
          </a:prstGeom>
          <a:solidFill>
            <a:srgbClr val="2C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300" b="0">
                <a:solidFill>
                  <a:srgbClr val="B4C1DA"/>
                </a:solidFill>
                <a:latin typeface="Aptos"/>
              </a:defRPr>
            </a:pPr>
            <a:r>
              <a:t>Each answer cell comes from one row and one column.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1000" b="1">
                <a:solidFill>
                  <a:srgbClr val="B4C1D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28232"/>
            <a:ext cx="5943600" cy="21945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900" b="1">
                <a:solidFill>
                  <a:srgbClr val="B4C1DA"/>
                </a:solidFill>
                <a:latin typeface="Aptos"/>
              </a:defRPr>
            </a:pPr>
            <a:r>
              <a:t>MATRIX MULTIPLICATION • B.TECH CSE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658368" cy="603503"/>
          </a:xfrm>
          <a:prstGeom prst="roundRect">
            <a:avLst/>
          </a:prstGeom>
          <a:solidFill>
            <a:srgbClr val="2CDBE6"/>
          </a:solidFill>
          <a:ln>
            <a:solidFill>
              <a:srgbClr val="2C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200" b="1">
                <a:solidFill>
                  <a:srgbClr val="0C142B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27632" y="2011680"/>
            <a:ext cx="658368" cy="603503"/>
          </a:xfrm>
          <a:prstGeom prst="roundRect">
            <a:avLst/>
          </a:prstGeom>
          <a:solidFill>
            <a:srgbClr val="2CDBE6"/>
          </a:solidFill>
          <a:ln>
            <a:solidFill>
              <a:srgbClr val="2C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200" b="1">
                <a:solidFill>
                  <a:srgbClr val="0C142B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40864" y="2011680"/>
            <a:ext cx="658368" cy="603503"/>
          </a:xfrm>
          <a:prstGeom prst="roundRect">
            <a:avLst/>
          </a:prstGeom>
          <a:solidFill>
            <a:srgbClr val="2CDBE6"/>
          </a:solidFill>
          <a:ln>
            <a:solidFill>
              <a:srgbClr val="2C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200" b="1">
                <a:solidFill>
                  <a:srgbClr val="0C142B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670048"/>
            <a:ext cx="658368" cy="603503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200" b="1">
                <a:solidFill>
                  <a:srgbClr val="F5F8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27632" y="2670048"/>
            <a:ext cx="658368" cy="603503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200" b="1">
                <a:solidFill>
                  <a:srgbClr val="F5F8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40864" y="2670048"/>
            <a:ext cx="658368" cy="603503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200" b="1">
                <a:solidFill>
                  <a:srgbClr val="F5F8FF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560320"/>
            <a:ext cx="502920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3200" b="1">
                <a:solidFill>
                  <a:srgbClr val="2CDBE6"/>
                </a:solidFill>
                <a:latin typeface="Aptos"/>
              </a:defRPr>
            </a:pPr>
            <a:r>
              <a:t>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1965960"/>
            <a:ext cx="658368" cy="512064"/>
          </a:xfrm>
          <a:prstGeom prst="roundRect">
            <a:avLst/>
          </a:prstGeom>
          <a:solidFill>
            <a:srgbClr val="2CDBE6"/>
          </a:solidFill>
          <a:ln>
            <a:solidFill>
              <a:srgbClr val="2C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900" b="1">
                <a:solidFill>
                  <a:srgbClr val="0C142B"/>
                </a:solidFill>
                <a:latin typeface="Aptos Display"/>
              </a:defRPr>
            </a:pPr>
            <a:r>
              <a:t>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65192" y="1965960"/>
            <a:ext cx="658368" cy="512064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900" b="1">
                <a:solidFill>
                  <a:srgbClr val="F5F8FF"/>
                </a:solidFill>
                <a:latin typeface="Aptos Display"/>
              </a:defRPr>
            </a:pPr>
            <a:r>
              <a:t>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2532888"/>
            <a:ext cx="658368" cy="512064"/>
          </a:xfrm>
          <a:prstGeom prst="roundRect">
            <a:avLst/>
          </a:prstGeom>
          <a:solidFill>
            <a:srgbClr val="2CDBE6"/>
          </a:solidFill>
          <a:ln>
            <a:solidFill>
              <a:srgbClr val="2C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900" b="1">
                <a:solidFill>
                  <a:srgbClr val="0C142B"/>
                </a:solidFill>
                <a:latin typeface="Aptos Display"/>
              </a:defRPr>
            </a:pPr>
            <a:r>
              <a:t>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65192" y="2532888"/>
            <a:ext cx="658368" cy="512064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900" b="1">
                <a:solidFill>
                  <a:srgbClr val="F5F8FF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099815"/>
            <a:ext cx="658368" cy="512064"/>
          </a:xfrm>
          <a:prstGeom prst="roundRect">
            <a:avLst/>
          </a:prstGeom>
          <a:solidFill>
            <a:srgbClr val="2CDBE6"/>
          </a:solidFill>
          <a:ln>
            <a:solidFill>
              <a:srgbClr val="2C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900" b="1">
                <a:solidFill>
                  <a:srgbClr val="0C142B"/>
                </a:solidFill>
                <a:latin typeface="Aptos Display"/>
              </a:defRPr>
            </a:pPr>
            <a:r>
              <a:t>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65192" y="3099815"/>
            <a:ext cx="658368" cy="512064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900" b="1">
                <a:solidFill>
                  <a:srgbClr val="F5F8FF"/>
                </a:solidFill>
                <a:latin typeface="Aptos Display"/>
              </a:defRPr>
            </a:pPr>
            <a:r>
              <a:t>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560320"/>
            <a:ext cx="502920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3200" b="1">
                <a:solidFill>
                  <a:srgbClr val="2CDBE6"/>
                </a:solidFill>
                <a:latin typeface="Aptos"/>
              </a:defRPr>
            </a:pPr>
            <a:r>
              <a:t>=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40880" y="2011680"/>
            <a:ext cx="4160520" cy="2103120"/>
          </a:xfrm>
          <a:prstGeom prst="roundRect">
            <a:avLst/>
          </a:prstGeom>
          <a:solidFill>
            <a:srgbClr val="162241"/>
          </a:solidFill>
          <a:ln>
            <a:solidFill>
              <a:srgbClr val="162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0" y="2423160"/>
            <a:ext cx="361188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1900" b="1">
                <a:solidFill>
                  <a:srgbClr val="F5F8FF"/>
                </a:solidFill>
                <a:latin typeface="Aptos"/>
              </a:defRPr>
            </a:pPr>
            <a:r>
              <a:t>1 × 7 + 2 × 9 + 3 × 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017520"/>
            <a:ext cx="361188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1900" b="0">
                <a:solidFill>
                  <a:srgbClr val="B4C1DA"/>
                </a:solidFill>
                <a:latin typeface="Aptos"/>
              </a:defRPr>
            </a:pPr>
            <a:r>
              <a:t>= 7 + 18 + 33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493008"/>
            <a:ext cx="361188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2500" b="1">
                <a:solidFill>
                  <a:srgbClr val="69E6AA"/>
                </a:solidFill>
                <a:latin typeface="Aptos"/>
              </a:defRPr>
            </a:pPr>
            <a:r>
              <a:t>= 58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892040"/>
            <a:ext cx="1005840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2000" b="1">
                <a:solidFill>
                  <a:srgbClr val="2CDBE6"/>
                </a:solidFill>
                <a:latin typeface="Aptos"/>
              </a:defRPr>
            </a:pPr>
            <a:r>
              <a:t>Multiply corresponding entries, then add the products.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Worked example: multiply A × B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0292"/>
          </a:xfrm>
          <a:prstGeom prst="rect">
            <a:avLst/>
          </a:prstGeom>
          <a:solidFill>
            <a:srgbClr val="2C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300" b="0">
                <a:solidFill>
                  <a:srgbClr val="B4C1DA"/>
                </a:solidFill>
                <a:latin typeface="Aptos"/>
              </a:defRPr>
            </a:pPr>
            <a:r>
              <a:t>We will calculate all four entries of the result matrix.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1000" b="1">
                <a:solidFill>
                  <a:srgbClr val="B4C1D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28232"/>
            <a:ext cx="5943600" cy="21945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900" b="1">
                <a:solidFill>
                  <a:srgbClr val="B4C1DA"/>
                </a:solidFill>
                <a:latin typeface="Aptos"/>
              </a:defRPr>
            </a:pPr>
            <a:r>
              <a:t>MATRIX MULTIPLICATION • B.TECH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64008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200" b="1">
                <a:solidFill>
                  <a:srgbClr val="2CDBE6"/>
                </a:solidFill>
                <a:latin typeface="Aptos"/>
              </a:defRPr>
            </a:pPr>
            <a:r>
              <a:t>A =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1828800"/>
            <a:ext cx="585215" cy="548640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000" b="1">
                <a:solidFill>
                  <a:srgbClr val="F5F8FF"/>
                </a:solidFill>
                <a:latin typeface="Aptos Display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94560" y="1828800"/>
            <a:ext cx="585215" cy="548640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000" b="1">
                <a:solidFill>
                  <a:srgbClr val="F5F8FF"/>
                </a:solidFill>
                <a:latin typeface="Aptos Display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39" y="1828800"/>
            <a:ext cx="585215" cy="548640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000" b="1">
                <a:solidFill>
                  <a:srgbClr val="F5F8FF"/>
                </a:solidFill>
                <a:latin typeface="Aptos Display"/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2432304"/>
            <a:ext cx="585215" cy="548640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000" b="1">
                <a:solidFill>
                  <a:srgbClr val="F5F8FF"/>
                </a:solidFill>
                <a:latin typeface="Aptos Display"/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94560" y="2432304"/>
            <a:ext cx="585215" cy="548640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000" b="1">
                <a:solidFill>
                  <a:srgbClr val="F5F8FF"/>
                </a:solidFill>
                <a:latin typeface="Aptos Display"/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39" y="2432304"/>
            <a:ext cx="585215" cy="548640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000" b="1">
                <a:solidFill>
                  <a:srgbClr val="F5F8FF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1920240"/>
            <a:ext cx="64008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200" b="1">
                <a:solidFill>
                  <a:srgbClr val="2CDBE6"/>
                </a:solidFill>
                <a:latin typeface="Aptos"/>
              </a:defRPr>
            </a:pPr>
            <a:r>
              <a:t>B 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737360"/>
            <a:ext cx="566928" cy="493776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800" b="1">
                <a:solidFill>
                  <a:srgbClr val="F5F8FF"/>
                </a:solidFill>
                <a:latin typeface="Aptos Display"/>
              </a:defRPr>
            </a:pPr>
            <a:r>
              <a:t>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93792" y="1737360"/>
            <a:ext cx="566928" cy="493776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800" b="1">
                <a:solidFill>
                  <a:srgbClr val="F5F8FF"/>
                </a:solidFill>
                <a:latin typeface="Aptos Display"/>
              </a:defRPr>
            </a:pPr>
            <a:r>
              <a:t>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0" y="2286000"/>
            <a:ext cx="566928" cy="493776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800" b="1">
                <a:solidFill>
                  <a:srgbClr val="F5F8FF"/>
                </a:solidFill>
                <a:latin typeface="Aptos Display"/>
              </a:defRPr>
            </a:pPr>
            <a:r>
              <a:t>9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93792" y="2286000"/>
            <a:ext cx="566928" cy="493776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800" b="1">
                <a:solidFill>
                  <a:srgbClr val="F5F8FF"/>
                </a:solidFill>
                <a:latin typeface="Aptos Display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2834639"/>
            <a:ext cx="566928" cy="493776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800" b="1">
                <a:solidFill>
                  <a:srgbClr val="F5F8FF"/>
                </a:solidFill>
                <a:latin typeface="Aptos Display"/>
              </a:defRPr>
            </a:pPr>
            <a:r>
              <a:t>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93792" y="2834639"/>
            <a:ext cx="566928" cy="493776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1800" b="1">
                <a:solidFill>
                  <a:srgbClr val="F5F8FF"/>
                </a:solidFill>
                <a:latin typeface="Aptos Display"/>
              </a:defRPr>
            </a:pPr>
            <a: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86200"/>
            <a:ext cx="1051560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1900" b="1">
                <a:solidFill>
                  <a:srgbClr val="F5F8FF"/>
                </a:solidFill>
                <a:latin typeface="Aptos"/>
              </a:defRPr>
            </a:pPr>
            <a:r>
              <a:t>A is 2 × 3; B is 3 × 2, so the result is 2 × 2.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617720"/>
            <a:ext cx="9966960" cy="1005840"/>
          </a:xfrm>
          <a:prstGeom prst="roundRect">
            <a:avLst/>
          </a:prstGeom>
          <a:solidFill>
            <a:srgbClr val="1A3448"/>
          </a:solidFill>
          <a:ln>
            <a:solidFill>
              <a:srgbClr val="1A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17320" y="4892040"/>
            <a:ext cx="932688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2500" b="1">
                <a:solidFill>
                  <a:srgbClr val="69E6AA"/>
                </a:solidFill>
                <a:latin typeface="Aptos"/>
              </a:defRPr>
            </a:pPr>
            <a:r>
              <a:t>C = A × 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Calculate each entry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0292"/>
          </a:xfrm>
          <a:prstGeom prst="rect">
            <a:avLst/>
          </a:prstGeom>
          <a:solidFill>
            <a:srgbClr val="2C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300" b="0">
                <a:solidFill>
                  <a:srgbClr val="B4C1DA"/>
                </a:solidFill>
                <a:latin typeface="Aptos"/>
              </a:defRPr>
            </a:pPr>
            <a:r>
              <a:t>Every cell is one row–column dot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1000" b="1">
                <a:solidFill>
                  <a:srgbClr val="B4C1D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28232"/>
            <a:ext cx="5943600" cy="21945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900" b="1">
                <a:solidFill>
                  <a:srgbClr val="B4C1DA"/>
                </a:solidFill>
                <a:latin typeface="Aptos"/>
              </a:defRPr>
            </a:pPr>
            <a:r>
              <a:t>MATRIX MULTIPLICATION • B.TECH CSE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029200" cy="1554480"/>
          </a:xfrm>
          <a:prstGeom prst="roundRect">
            <a:avLst/>
          </a:prstGeom>
          <a:solidFill>
            <a:srgbClr val="162241"/>
          </a:solidFill>
          <a:ln>
            <a:solidFill>
              <a:srgbClr val="162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11680"/>
            <a:ext cx="77724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900" b="1">
                <a:solidFill>
                  <a:srgbClr val="2CDBE6"/>
                </a:solidFill>
                <a:latin typeface="Aptos"/>
              </a:defRPr>
            </a:pPr>
            <a:r>
              <a:t>c₁₁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029968"/>
            <a:ext cx="379476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1×7 + 2×9 + 3×11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633472"/>
            <a:ext cx="379476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400" b="1">
                <a:solidFill>
                  <a:srgbClr val="69E6AA"/>
                </a:solidFill>
                <a:latin typeface="Aptos"/>
              </a:defRPr>
            </a:pPr>
            <a:r>
              <a:t>= 58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5029200" cy="1554480"/>
          </a:xfrm>
          <a:prstGeom prst="roundRect">
            <a:avLst/>
          </a:prstGeom>
          <a:solidFill>
            <a:srgbClr val="162241"/>
          </a:solidFill>
          <a:ln>
            <a:solidFill>
              <a:srgbClr val="162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2011680"/>
            <a:ext cx="77724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900" b="1">
                <a:solidFill>
                  <a:srgbClr val="9C6FFF"/>
                </a:solidFill>
                <a:latin typeface="Aptos"/>
              </a:defRPr>
            </a:pPr>
            <a:r>
              <a:t>c₁₂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029968"/>
            <a:ext cx="379476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1×8 + 2×10 + 3×12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633472"/>
            <a:ext cx="379476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400" b="1">
                <a:solidFill>
                  <a:srgbClr val="69E6AA"/>
                </a:solidFill>
                <a:latin typeface="Aptos"/>
              </a:defRPr>
            </a:pPr>
            <a:r>
              <a:t>= 64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86200"/>
            <a:ext cx="5029200" cy="1554480"/>
          </a:xfrm>
          <a:prstGeom prst="roundRect">
            <a:avLst/>
          </a:prstGeom>
          <a:solidFill>
            <a:srgbClr val="162241"/>
          </a:solidFill>
          <a:ln>
            <a:solidFill>
              <a:srgbClr val="162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51560" y="4069080"/>
            <a:ext cx="77724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900" b="1">
                <a:solidFill>
                  <a:srgbClr val="2CDBE6"/>
                </a:solidFill>
                <a:latin typeface="Aptos"/>
              </a:defRPr>
            </a:pPr>
            <a:r>
              <a:t>c₂₁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087368"/>
            <a:ext cx="379476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4×7 + 5×9 + 6×11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690872"/>
            <a:ext cx="379476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400" b="1">
                <a:solidFill>
                  <a:srgbClr val="69E6AA"/>
                </a:solidFill>
                <a:latin typeface="Aptos"/>
              </a:defRPr>
            </a:pPr>
            <a:r>
              <a:t>= 139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886200"/>
            <a:ext cx="5029200" cy="1554480"/>
          </a:xfrm>
          <a:prstGeom prst="roundRect">
            <a:avLst/>
          </a:prstGeom>
          <a:solidFill>
            <a:srgbClr val="162241"/>
          </a:solidFill>
          <a:ln>
            <a:solidFill>
              <a:srgbClr val="162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46520" y="4069080"/>
            <a:ext cx="77724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900" b="1">
                <a:solidFill>
                  <a:srgbClr val="9C6FFF"/>
                </a:solidFill>
                <a:latin typeface="Aptos"/>
              </a:defRPr>
            </a:pPr>
            <a:r>
              <a:t>c₂₂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4087368"/>
            <a:ext cx="379476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700" b="1">
                <a:solidFill>
                  <a:srgbClr val="F5F8FF"/>
                </a:solidFill>
                <a:latin typeface="Aptos"/>
              </a:defRPr>
            </a:pPr>
            <a:r>
              <a:t>4×8 + 5×10 + 6×12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690872"/>
            <a:ext cx="379476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400" b="1">
                <a:solidFill>
                  <a:srgbClr val="69E6AA"/>
                </a:solidFill>
                <a:latin typeface="Aptos"/>
              </a:defRPr>
            </a:pPr>
            <a:r>
              <a:t>= 154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4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Final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0292"/>
          </a:xfrm>
          <a:prstGeom prst="rect">
            <a:avLst/>
          </a:prstGeom>
          <a:solidFill>
            <a:srgbClr val="2C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300" b="0">
                <a:solidFill>
                  <a:srgbClr val="B4C1DA"/>
                </a:solidFill>
                <a:latin typeface="Aptos"/>
              </a:defRPr>
            </a:pPr>
            <a:r>
              <a:t>Place the four calculated values in their matching positions.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1000" b="1">
                <a:solidFill>
                  <a:srgbClr val="B4C1D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28232"/>
            <a:ext cx="5943600" cy="21945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900" b="1">
                <a:solidFill>
                  <a:srgbClr val="B4C1DA"/>
                </a:solidFill>
                <a:latin typeface="Aptos"/>
              </a:defRPr>
            </a:pPr>
            <a:r>
              <a:t>MATRIX MULTIPLICATION • B.TECH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150876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2300" b="1">
                <a:solidFill>
                  <a:srgbClr val="2CDBE6"/>
                </a:solidFill>
                <a:latin typeface="Aptos"/>
              </a:defRPr>
            </a:pPr>
            <a:r>
              <a:t>A × B =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40" y="2057400"/>
            <a:ext cx="1088136" cy="905256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500" b="1">
                <a:solidFill>
                  <a:srgbClr val="F5F8FF"/>
                </a:solidFill>
                <a:latin typeface="Aptos Display"/>
              </a:defRPr>
            </a:pPr>
            <a:r>
              <a:t>58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2057400"/>
            <a:ext cx="1088136" cy="905256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500" b="1">
                <a:solidFill>
                  <a:srgbClr val="F5F8FF"/>
                </a:solidFill>
                <a:latin typeface="Aptos Display"/>
              </a:defRPr>
            </a:pPr>
            <a: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3017520"/>
            <a:ext cx="1088136" cy="905256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500" b="1">
                <a:solidFill>
                  <a:srgbClr val="F5F8FF"/>
                </a:solidFill>
                <a:latin typeface="Aptos Display"/>
              </a:defRPr>
            </a:pPr>
            <a:r>
              <a:t>139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77639" y="3017520"/>
            <a:ext cx="1088136" cy="905256"/>
          </a:xfrm>
          <a:prstGeom prst="roundRect">
            <a:avLst/>
          </a:prstGeom>
          <a:solidFill>
            <a:srgbClr val="162241"/>
          </a:solidFill>
          <a:ln>
            <a:solidFill>
              <a:srgbClr val="3748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defRPr sz="2500" b="1">
                <a:solidFill>
                  <a:srgbClr val="F5F8FF"/>
                </a:solidFill>
                <a:latin typeface="Aptos Display"/>
              </a:defRPr>
            </a:pPr>
            <a:r>
              <a:t>154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4572000" cy="2286000"/>
          </a:xfrm>
          <a:prstGeom prst="roundRect">
            <a:avLst/>
          </a:prstGeom>
          <a:solidFill>
            <a:srgbClr val="162241"/>
          </a:solidFill>
          <a:ln>
            <a:solidFill>
              <a:srgbClr val="162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2148840"/>
            <a:ext cx="393192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2000" b="1">
                <a:solidFill>
                  <a:srgbClr val="B4C1DA"/>
                </a:solidFill>
                <a:latin typeface="Aptos"/>
              </a:defRPr>
            </a:pPr>
            <a:r>
              <a:t>Result dimensions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743200"/>
            <a:ext cx="393192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3400" b="1">
                <a:solidFill>
                  <a:srgbClr val="69E6AA"/>
                </a:solidFill>
                <a:latin typeface="Aptos"/>
              </a:defRPr>
            </a:pPr>
            <a:r>
              <a:t>2 ×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474720"/>
            <a:ext cx="3931920" cy="3200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1500" b="0">
                <a:solidFill>
                  <a:srgbClr val="F5F8FF"/>
                </a:solidFill>
                <a:latin typeface="Aptos"/>
              </a:defRPr>
            </a:pPr>
            <a:r>
              <a:t>Rows of A × columns of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10241280" cy="50292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2200" b="1">
                <a:solidFill>
                  <a:srgbClr val="F5F8FF"/>
                </a:solidFill>
                <a:latin typeface="Aptos"/>
              </a:defRPr>
            </a:pPr>
            <a:r>
              <a:t>Final answer:  [[58, 64], [139, 154]]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789920" cy="54864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3000" b="1">
                <a:solidFill>
                  <a:srgbClr val="F5F8FF"/>
                </a:solidFill>
                <a:latin typeface="Aptos"/>
              </a:defRPr>
            </a:pPr>
            <a:r>
              <a:t>Quick recap &amp; AI tools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87552"/>
            <a:ext cx="1051560" cy="50292"/>
          </a:xfrm>
          <a:prstGeom prst="rect">
            <a:avLst/>
          </a:prstGeom>
          <a:solidFill>
            <a:srgbClr val="2CD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789920" cy="384048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1300" b="0">
                <a:solidFill>
                  <a:srgbClr val="B4C1DA"/>
                </a:solidFill>
                <a:latin typeface="Aptos"/>
              </a:defRPr>
            </a:pPr>
            <a:r>
              <a:t>Remember these three points.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11480" cy="2286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r">
              <a:defRPr sz="1000" b="1">
                <a:solidFill>
                  <a:srgbClr val="B4C1D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6428232"/>
            <a:ext cx="5943600" cy="219456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>
              <a:defRPr sz="900" b="1">
                <a:solidFill>
                  <a:srgbClr val="B4C1DA"/>
                </a:solidFill>
                <a:latin typeface="Aptos"/>
              </a:defRPr>
            </a:pPr>
            <a:r>
              <a:t>MATRIX MULTIPLICATION • B.TECH CSE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6492240" cy="3566160"/>
          </a:xfrm>
          <a:prstGeom prst="roundRect">
            <a:avLst/>
          </a:prstGeom>
          <a:solidFill>
            <a:srgbClr val="162241"/>
          </a:solidFill>
          <a:ln>
            <a:solidFill>
              <a:srgbClr val="1622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148840"/>
            <a:ext cx="5760720" cy="2651760"/>
          </a:xfrm>
          <a:prstGeom prst="rect">
            <a:avLst/>
          </a:prstGeom>
          <a:noFill/>
        </p:spPr>
        <p:txBody>
          <a:bodyPr wrap="square" lIns="73152" tIns="54864" rIns="73152" bIns="54864">
            <a:spAutoFit/>
          </a:bodyPr>
          <a:lstStyle/>
          <a:p>
            <a:pPr>
              <a:spcAft>
                <a:spcPts val="1600"/>
              </a:spcAft>
              <a:defRPr sz="1900" b="1">
                <a:solidFill>
                  <a:srgbClr val="2CDBE6"/>
                </a:solidFill>
                <a:latin typeface="Aptos"/>
              </a:defRPr>
            </a:pPr>
            <a:r>
              <a:t>1. Check dimensions before multiplying.</a:t>
            </a:r>
          </a:p>
          <a:p>
            <a:pPr>
              <a:spcAft>
                <a:spcPts val="1600"/>
              </a:spcAft>
              <a:defRPr sz="1900" b="0">
                <a:solidFill>
                  <a:srgbClr val="F5F8FF"/>
                </a:solidFill>
                <a:latin typeface="Aptos"/>
              </a:defRPr>
            </a:pPr>
            <a:r>
              <a:t>2. Take one row from A and one column from B.</a:t>
            </a:r>
          </a:p>
          <a:p>
            <a:pPr>
              <a:spcAft>
                <a:spcPts val="1600"/>
              </a:spcAft>
              <a:defRPr sz="1900" b="0">
                <a:solidFill>
                  <a:srgbClr val="F5F8FF"/>
                </a:solidFill>
                <a:latin typeface="Aptos"/>
              </a:defRPr>
            </a:pPr>
            <a:r>
              <a:t>3. Multiply matching entries and add the products.</a:t>
            </a:r>
          </a:p>
          <a:p>
            <a:pPr>
              <a:spcAft>
                <a:spcPts val="1600"/>
              </a:spcAft>
              <a:defRPr sz="1900" b="0">
                <a:solidFill>
                  <a:srgbClr val="F5F8FF"/>
                </a:solidFill>
                <a:latin typeface="Aptos"/>
              </a:defRPr>
            </a:pPr>
            <a:r>
              <a:t>4. Repeat for every cell in the result.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1783080"/>
            <a:ext cx="3749039" cy="3566160"/>
          </a:xfrm>
          <a:prstGeom prst="roundRect">
            <a:avLst/>
          </a:prstGeom>
          <a:solidFill>
            <a:srgbClr val="172A49"/>
          </a:solidFill>
          <a:ln>
            <a:solidFill>
              <a:srgbClr val="172A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79" y="2103120"/>
            <a:ext cx="310896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1600" b="1">
                <a:solidFill>
                  <a:srgbClr val="2CDBE6"/>
                </a:solidFill>
                <a:latin typeface="Aptos"/>
              </a:defRPr>
            </a:pPr>
            <a:r>
              <a:t>AI TOOLS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2743200"/>
            <a:ext cx="3108960" cy="41148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2200" b="1">
                <a:solidFill>
                  <a:srgbClr val="F5F8FF"/>
                </a:solidFill>
                <a:latin typeface="Aptos"/>
              </a:defRPr>
            </a:pPr>
            <a:r>
              <a:t>NotebookLM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200400"/>
            <a:ext cx="310896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1400" b="0">
                <a:solidFill>
                  <a:srgbClr val="B4C1DA"/>
                </a:solidFill>
                <a:latin typeface="Aptos"/>
              </a:defRPr>
            </a:pPr>
            <a:r>
              <a:t>For generating the AI-assisted educational video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3977639"/>
            <a:ext cx="3108960" cy="3657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2200" b="1">
                <a:solidFill>
                  <a:srgbClr val="F5F8FF"/>
                </a:solidFill>
                <a:latin typeface="Aptos"/>
              </a:defRPr>
            </a:pPr>
            <a:r>
              <a:t>ChatGPT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389120"/>
            <a:ext cx="3108960" cy="59436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1400" b="0">
                <a:solidFill>
                  <a:srgbClr val="B4C1DA"/>
                </a:solidFill>
                <a:latin typeface="Aptos"/>
              </a:defRPr>
            </a:pPr>
            <a:r>
              <a:t>For the presentation content and 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715000"/>
            <a:ext cx="8503920" cy="457200"/>
          </a:xfrm>
          <a:prstGeom prst="rect">
            <a:avLst/>
          </a:prstGeom>
          <a:noFill/>
        </p:spPr>
        <p:txBody>
          <a:bodyPr wrap="square" lIns="54864" tIns="54864" rIns="54864" bIns="54864">
            <a:spAutoFit/>
          </a:bodyPr>
          <a:lstStyle/>
          <a:p>
            <a:pPr algn="ctr">
              <a:defRPr sz="2500" b="1">
                <a:solidFill>
                  <a:srgbClr val="9C6FFF"/>
                </a:solidFill>
                <a:latin typeface="Aptos"/>
              </a:defRPr>
            </a:pPr>
            <a:r>
              <a:t>Thank you for watching!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527</Words>
  <Application>Microsoft Office PowerPoint</Application>
  <PresentationFormat>Widescreen</PresentationFormat>
  <Paragraphs>129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Matrix Multiplication Explained with Examples</dc:title>
  <dc:subject>Educational presentation for B.Tech Computer Science Engineering students</dc:subject>
  <dc:creator>Prabhat Pandey</dc:creator>
  <cp:keywords>matrix multiplication, mathematics, computer science, NotebookLM, ChatGPT</cp:keywords>
  <dc:description>generated using python-pptx</dc:description>
  <cp:lastModifiedBy>Prabhat Pandey</cp:lastModifiedBy>
  <cp:revision>3</cp:revision>
  <dcterms:created xsi:type="dcterms:W3CDTF">2013-01-27T09:14:16Z</dcterms:created>
  <dcterms:modified xsi:type="dcterms:W3CDTF">2026-10-20T08:12:12Z</dcterms:modified>
  <cp:category/>
</cp:coreProperties>
</file>